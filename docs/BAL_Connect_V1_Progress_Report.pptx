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51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36576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Progress 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Balasore Alloys Ltd.  |  March 2026  |  Confidential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1783080" cy="347472"/>
          </a:xfrm>
          <a:prstGeom prst="rect">
            <a:avLst/>
          </a:prstGeom>
          <a:solidFill>
            <a:srgbClr val="00B894">
              <a:alpha val="20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3566160"/>
            <a:ext cx="1783080" cy="347472"/>
          </a:xfrm>
          <a:prstGeom prst="rect">
            <a:avLst/>
          </a:prstGeom>
          <a:solidFill>
            <a:srgbClr val="5B5FC7">
              <a:alpha val="20000"/>
            </a:srgbClr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9748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License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783080" cy="347472"/>
          </a:xfrm>
          <a:prstGeom prst="rect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3566160"/>
            <a:ext cx="1783080" cy="34747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2940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WebRTC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731520" cy="32004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828800" cy="1051560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Complete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1828800" cy="1051560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97480" y="1207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33/43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974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828800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1207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9910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0120" y="2487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replacement for 300+ employees — fully self-hosted, internal network only</a:t>
            </a:r>
            <a:endParaRPr lang="en-US" sz="11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567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60120" y="28529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software licensing cost — all open source technologies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143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218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React + Node.js + PostgreSQL + Redis + Pure WebRTC + Docker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60120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96012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96012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731520" cy="32004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252728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389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DMs, group channels, reactions, replies, @mentions, typing indicators, read receipts, search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54880" y="117043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12527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Calls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57800" y="1389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voice/video via Pure WebRTC, call history, incoming call modal, mute/camera toggle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213055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2128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057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Meetings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Week/day view, create events, invite attendees, RSVP accept/decline, real-time notifications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54880" y="213055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221284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2057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Integration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25780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sending (Office 365), drafts, sent items, deleted items, restore, contact autocomplete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09067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17296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3000" y="33101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upload, image preview, click-to-zoom, per-conversation file library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754880" y="3090672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172968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257800" y="33101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tabs: Overview, Users, Extensions, Conversations, Compliance Search, Health monitoring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40080" y="4050792"/>
            <a:ext cx="384048" cy="384048"/>
          </a:xfrm>
          <a:prstGeom prst="ellipse">
            <a:avLst/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4133088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4300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Presence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1143000" y="4270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notifications, sound alerts, call ringtone, online/away/busy status, auto-away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754880" y="4050792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7176" y="4133088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5780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5257800" y="4270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bcrypt, role-based access (Admin/Manager/Employee), Helmet.js, CORS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WebRTC  |  Zero Hardware Dependency  |  Docker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1828800" cy="658368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97480" y="1536192"/>
            <a:ext cx="1828800" cy="658368"/>
          </a:xfrm>
          <a:prstGeom prst="rect">
            <a:avLst/>
          </a:prstGeom>
          <a:solidFill>
            <a:srgbClr val="5B5FC7">
              <a:alpha val="25000"/>
            </a:srgbClr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974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536192"/>
            <a:ext cx="1828800" cy="658368"/>
          </a:xfrm>
          <a:prstGeom prst="rect">
            <a:avLst/>
          </a:prstGeom>
          <a:solidFill>
            <a:srgbClr val="00B894">
              <a:alpha val="25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RTCPeerConnection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12280" y="1536192"/>
            <a:ext cx="182880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122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633472"/>
            <a:ext cx="1828800" cy="658368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TypeScript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97480" y="2633472"/>
            <a:ext cx="1828800" cy="658368"/>
          </a:xfrm>
          <a:prstGeom prst="rect">
            <a:avLst/>
          </a:prstGeom>
          <a:solidFill>
            <a:srgbClr val="5B5FC7">
              <a:alpha val="25000"/>
            </a:srgbClr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9748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+ Chat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633472"/>
            <a:ext cx="1828800" cy="658368"/>
          </a:xfrm>
          <a:prstGeom prst="rect">
            <a:avLst/>
          </a:prstGeom>
          <a:solidFill>
            <a:srgbClr val="00B894">
              <a:alpha val="25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Client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2633472"/>
            <a:ext cx="1828800" cy="65836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1228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Reverse Proxy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3730752"/>
            <a:ext cx="1828800" cy="658368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Tables, 6 Migrations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3730752"/>
            <a:ext cx="1828800" cy="658368"/>
          </a:xfrm>
          <a:prstGeom prst="rect">
            <a:avLst/>
          </a:prstGeom>
          <a:solidFill>
            <a:srgbClr val="5B5FC7">
              <a:alpha val="25000"/>
            </a:srgbClr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6974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Pub/Sub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730752"/>
            <a:ext cx="1828800" cy="658368"/>
          </a:xfrm>
          <a:prstGeom prst="rect">
            <a:avLst/>
          </a:prstGeom>
          <a:solidFill>
            <a:srgbClr val="00B894">
              <a:alpha val="25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coturn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STUN/TURN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3730752"/>
            <a:ext cx="182880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122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/ NAS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WSS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339177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Docker Network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free &amp; open source  |  Total License Cost: $0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731520" cy="32004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3840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1480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1480"/>
            <a:ext cx="164592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69848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(JWT, bcrypt, roles)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1399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(1:1 + group)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4792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1746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 &amp; Read Receipts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12264"/>
            <a:ext cx="182880" cy="1828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4400" y="2093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Reactions &amp; Edit/Delete</a:t>
            </a:r>
            <a:endParaRPr lang="en-US" sz="10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9736"/>
            <a:ext cx="182880" cy="1828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4400" y="2441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Search (PostgreSQL FTS)</a:t>
            </a:r>
            <a:endParaRPr lang="en-US" sz="10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07208"/>
            <a:ext cx="182880" cy="18288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14400" y="2788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 &amp; Desktop Notifications</a:t>
            </a:r>
            <a:endParaRPr lang="en-US" sz="105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182880" cy="18288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14400" y="3136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Upload/Download &amp; Preview</a:t>
            </a:r>
            <a:endParaRPr lang="en-US" sz="10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02152"/>
            <a:ext cx="182880" cy="18288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914400" y="3483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Audio Calls (WebRTC)</a:t>
            </a:r>
            <a:endParaRPr lang="en-US" sz="105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9624"/>
            <a:ext cx="182880" cy="18288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914400" y="3831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Video Calls (WebRTC)</a:t>
            </a:r>
            <a:endParaRPr lang="en-US" sz="10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7096"/>
            <a:ext cx="182880" cy="18288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914400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 + Remote Control</a:t>
            </a:r>
            <a:endParaRPr lang="en-US" sz="105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44568"/>
            <a:ext cx="182880" cy="182880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914400" y="4526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History (Teams-style UI)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521208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SMTP, Drafts, Sent, Deleted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5212080" y="1399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Events, RSVP, Invitations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5212080" y="1746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(6 tabs, analytics)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5212080" y="2093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System (Redis-backed)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5212080" y="2441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Directory (by dept)</a:t>
            </a:r>
            <a:endParaRPr lang="en-US" sz="1050" dirty="0"/>
          </a:p>
        </p:txBody>
      </p:sp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229" y="1122100"/>
            <a:ext cx="182880" cy="18288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5212080" y="2788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Audio/Video Calls</a:t>
            </a:r>
            <a:endParaRPr lang="en-US" sz="105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87335"/>
            <a:ext cx="182880" cy="182880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5212080" y="3136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(rate limiting)</a:t>
            </a:r>
            <a:endParaRPr lang="en-US" sz="1050" dirty="0"/>
          </a:p>
        </p:txBody>
      </p:sp>
      <p:pic>
        <p:nvPicPr>
          <p:cNvPr id="46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41338"/>
            <a:ext cx="182880" cy="18288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5212080" y="3483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050" dirty="0"/>
          </a:p>
        </p:txBody>
      </p:sp>
      <p:pic>
        <p:nvPicPr>
          <p:cNvPr id="48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849624"/>
            <a:ext cx="182880" cy="182880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5212080" y="3831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coturn TURN Server (production)</a:t>
            </a:r>
            <a:endParaRPr lang="en-US" sz="1050" dirty="0"/>
          </a:p>
        </p:txBody>
      </p:sp>
      <p:pic>
        <p:nvPicPr>
          <p:cNvPr id="50" name="Image 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197096"/>
            <a:ext cx="182880" cy="182880"/>
          </a:xfrm>
          <a:prstGeom prst="rect">
            <a:avLst/>
          </a:prstGeom>
        </p:spPr>
      </p:pic>
      <p:sp>
        <p:nvSpPr>
          <p:cNvPr id="51" name="Text 25"/>
          <p:cNvSpPr/>
          <p:nvPr/>
        </p:nvSpPr>
        <p:spPr>
          <a:xfrm>
            <a:off x="5212080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SSL (production config)</a:t>
            </a:r>
            <a:endParaRPr lang="en-US" sz="1050" dirty="0"/>
          </a:p>
        </p:txBody>
      </p:sp>
      <p:pic>
        <p:nvPicPr>
          <p:cNvPr id="52" name="Image 2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544568"/>
            <a:ext cx="182880" cy="182880"/>
          </a:xfrm>
          <a:prstGeom prst="rect">
            <a:avLst/>
          </a:prstGeom>
        </p:spPr>
      </p:pic>
      <p:sp>
        <p:nvSpPr>
          <p:cNvPr id="53" name="Text 26"/>
          <p:cNvSpPr/>
          <p:nvPr/>
        </p:nvSpPr>
        <p:spPr>
          <a:xfrm>
            <a:off x="5212080" y="4526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Docker Deployment</a:t>
            </a:r>
            <a:endParaRPr lang="en-US" sz="1050" dirty="0"/>
          </a:p>
        </p:txBody>
      </p:sp>
      <p:sp>
        <p:nvSpPr>
          <p:cNvPr id="55" name="Text 2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54" name="Image 19" descr="preencoded.png">
            <a:extLst>
              <a:ext uri="{FF2B5EF4-FFF2-40B4-BE49-F238E27FC236}">
                <a16:creationId xmlns:a16="http://schemas.microsoft.com/office/drawing/2014/main" id="{45A1A9C0-09DB-B7EA-D456-7E5D4D6E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49664"/>
            <a:ext cx="182880" cy="182880"/>
          </a:xfrm>
          <a:prstGeom prst="rect">
            <a:avLst/>
          </a:prstGeom>
        </p:spPr>
      </p:pic>
      <p:pic>
        <p:nvPicPr>
          <p:cNvPr id="56" name="Image 19" descr="preencoded.png">
            <a:extLst>
              <a:ext uri="{FF2B5EF4-FFF2-40B4-BE49-F238E27FC236}">
                <a16:creationId xmlns:a16="http://schemas.microsoft.com/office/drawing/2014/main" id="{A05CAB3C-3AFD-049A-603F-D9CEBEA7E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49324"/>
            <a:ext cx="182880" cy="182880"/>
          </a:xfrm>
          <a:prstGeom prst="rect">
            <a:avLst/>
          </a:prstGeom>
        </p:spPr>
      </p:pic>
      <p:pic>
        <p:nvPicPr>
          <p:cNvPr id="57" name="Image 19" descr="preencoded.png">
            <a:extLst>
              <a:ext uri="{FF2B5EF4-FFF2-40B4-BE49-F238E27FC236}">
                <a16:creationId xmlns:a16="http://schemas.microsoft.com/office/drawing/2014/main" id="{AFAC1F92-C8B3-1788-0C26-88200DE87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712" y="1797777"/>
            <a:ext cx="182880" cy="182880"/>
          </a:xfrm>
          <a:prstGeom prst="rect">
            <a:avLst/>
          </a:prstGeom>
        </p:spPr>
      </p:pic>
      <p:pic>
        <p:nvPicPr>
          <p:cNvPr id="58" name="Image 19" descr="preencoded.png">
            <a:extLst>
              <a:ext uri="{FF2B5EF4-FFF2-40B4-BE49-F238E27FC236}">
                <a16:creationId xmlns:a16="http://schemas.microsoft.com/office/drawing/2014/main" id="{91F08ED1-48CD-6BEA-A19E-90220393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498928"/>
            <a:ext cx="182880" cy="182880"/>
          </a:xfrm>
          <a:prstGeom prst="rect">
            <a:avLst/>
          </a:prstGeom>
        </p:spPr>
      </p:pic>
      <p:pic>
        <p:nvPicPr>
          <p:cNvPr id="59" name="Image 19" descr="preencoded.png">
            <a:extLst>
              <a:ext uri="{FF2B5EF4-FFF2-40B4-BE49-F238E27FC236}">
                <a16:creationId xmlns:a16="http://schemas.microsoft.com/office/drawing/2014/main" id="{F00F3D4B-9371-5CE7-7C71-114414EBD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33" y="215929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731520" cy="32004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667885"/>
              </p:ext>
            </p:extLst>
          </p:nvPr>
        </p:nvGraphicFramePr>
        <p:xfrm>
          <a:off x="640080" y="1097280"/>
          <a:ext cx="7863840" cy="18059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License (300 users)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~$45,000/year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Server/Hosting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~$5,000/year (cloud)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on-premise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Dependency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network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customizable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Total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Savings: ~$250,000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 pays for itself from day one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31520" cy="32004"/>
          </a:xfrm>
          <a:prstGeom prst="rect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52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group audio/video calls (WebRTC mesh for small groups)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coturn TURN server for cross-subnet NAT traversal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075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Nginx with SSL certificates for production HTTPS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production deployment on provided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898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with 300+ simulated concurrent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user training and phased rollout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3840480"/>
            <a:ext cx="9144000" cy="9144"/>
          </a:xfrm>
          <a:prstGeom prst="rect">
            <a:avLst/>
          </a:prstGeom>
          <a:solidFill>
            <a:srgbClr val="5B5FC7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  |  Internal Communication Platform  |  Balasore Alloys Ltd.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630</Words>
  <Application>Microsoft Office PowerPoint</Application>
  <PresentationFormat>On-screen Show (16:9)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 Connect - V1 Progress Report</dc:title>
  <dc:subject>PptxGenJS Presentation</dc:subject>
  <dc:creator>IT Infrastructure &amp; Digital Transformation Team</dc:creator>
  <cp:lastModifiedBy>IT TRAINEE</cp:lastModifiedBy>
  <cp:revision>10</cp:revision>
  <dcterms:created xsi:type="dcterms:W3CDTF">2026-03-30T10:54:58Z</dcterms:created>
  <dcterms:modified xsi:type="dcterms:W3CDTF">2026-03-31T11:12:37Z</dcterms:modified>
</cp:coreProperties>
</file>