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B5FC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 Connect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Communication Platform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1097280" cy="36576"/>
          </a:xfrm>
          <a:prstGeom prst="rect">
            <a:avLst/>
          </a:prstGeom>
          <a:solidFill>
            <a:srgbClr val="5B5FC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48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Progress Report for Senior Management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697480"/>
            <a:ext cx="1783080" cy="320040"/>
          </a:xfrm>
          <a:prstGeom prst="rect">
            <a:avLst/>
          </a:prstGeom>
          <a:solidFill>
            <a:srgbClr val="00B894">
              <a:alpha val="15000"/>
            </a:srgbClr>
          </a:solidFill>
          <a:ln w="19050">
            <a:solidFill>
              <a:srgbClr val="00B8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6974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 Users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97480" y="2697480"/>
            <a:ext cx="1783080" cy="320040"/>
          </a:xfrm>
          <a:prstGeom prst="rect">
            <a:avLst/>
          </a:prstGeom>
          <a:solidFill>
            <a:srgbClr val="5B5FC7">
              <a:alpha val="15000"/>
            </a:srgbClr>
          </a:solidFill>
          <a:ln w="19050">
            <a:solidFill>
              <a:srgbClr val="5B5F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26974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5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License Cost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2697480"/>
            <a:ext cx="1783080" cy="320040"/>
          </a:xfrm>
          <a:prstGeom prst="rect">
            <a:avLst/>
          </a:prstGeom>
          <a:solidFill>
            <a:srgbClr val="E94560">
              <a:alpha val="15000"/>
            </a:srgbClr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6974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Complete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29400" y="2697480"/>
            <a:ext cx="1783080" cy="320040"/>
          </a:xfrm>
          <a:prstGeom prst="rect">
            <a:avLst/>
          </a:prstGeom>
          <a:solidFill>
            <a:srgbClr val="0891B2">
              <a:alpha val="15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26974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WebRTC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3337560"/>
            <a:ext cx="91440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520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3840480"/>
            <a:ext cx="1828800" cy="777240"/>
          </a:xfrm>
          <a:prstGeom prst="rect">
            <a:avLst/>
          </a:prstGeom>
          <a:solidFill>
            <a:srgbClr val="5B5FC7"/>
          </a:solidFill>
          <a:ln w="12700">
            <a:solidFill>
              <a:srgbClr val="5B5F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8587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Dipesh Mondal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4206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Architecture &amp; Development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88920" y="3840480"/>
            <a:ext cx="1828800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88920" y="38587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Swastik Roy Choudhury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88920" y="4206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0" y="3840480"/>
            <a:ext cx="1828800" cy="777240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8587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Senapati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4206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&amp; Deployment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03720" y="3840480"/>
            <a:ext cx="1828800" cy="7772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03720" y="38587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Rojalin Sahu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03720" y="4206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Monitoring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1520" y="47548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Balasore Alloys Ltd.  |  April 2026  |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2560320" cy="914400"/>
          </a:xfrm>
          <a:prstGeom prst="rect">
            <a:avLst/>
          </a:prstGeom>
          <a:solidFill>
            <a:srgbClr val="5B5FC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Complete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29000" y="960120"/>
            <a:ext cx="2560320" cy="9144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7" name="Text 5"/>
          <p:cNvSpPr/>
          <p:nvPr/>
        </p:nvSpPr>
        <p:spPr>
          <a:xfrm>
            <a:off x="3429000" y="9601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33/43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429000" y="1508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Done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960120"/>
            <a:ext cx="2560320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9601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217920" y="1508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Days</a:t>
            </a:r>
            <a:endParaRPr lang="en-US" sz="11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48840"/>
            <a:ext cx="182880" cy="1828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60120" y="2121408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Teams replacement for 300+ employees — fully self-hosted, internal network only</a:t>
            </a:r>
            <a:endParaRPr lang="en-US" sz="11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32888"/>
            <a:ext cx="182880" cy="182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60120" y="2505456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software licensing cost — all open source technologies</a:t>
            </a:r>
            <a:endParaRPr lang="en-US" sz="11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916936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0120" y="288950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React + Node.js + PostgreSQL + Redis + Pure WebRTC + Docker</a:t>
            </a:r>
            <a:endParaRPr lang="en-US" sz="11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300984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60120" y="327355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Email Server (Stalwart) integrated — no MS 365 dependency for regular employees</a:t>
            </a:r>
            <a:endParaRPr lang="en-US" sz="11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685032"/>
            <a:ext cx="182880" cy="1828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60120" y="365760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developer delivering at 7x planned speed — 4+ months ahead of schedule</a:t>
            </a:r>
            <a:endParaRPr lang="en-US" sz="11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069080"/>
            <a:ext cx="182880" cy="18288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960120" y="4041648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BONUS modules added beyond original scope: Email + Calendar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078992"/>
            <a:ext cx="384048" cy="384048"/>
          </a:xfrm>
          <a:prstGeom prst="ellipse">
            <a:avLst/>
          </a:prstGeom>
          <a:solidFill>
            <a:srgbClr val="5B5FC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161288"/>
            <a:ext cx="219456" cy="219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0058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Messaging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43000" y="129844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DMs, group channels, reactions, replies, @mentions, typing, read receipts, search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754880" y="1078992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76" y="1161288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57800" y="10058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&amp; Video Calls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257800" y="129844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voice/video via Pure WebRTC, call history, incoming call modal, mute/camera toggle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640080" y="2039112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2121408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19659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&amp; Meetings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1143000" y="22585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Week/day view, create events, invite attendees, RSVP accept/decline, real-time notifications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4754880" y="2039112"/>
            <a:ext cx="384048" cy="384048"/>
          </a:xfrm>
          <a:prstGeom prst="ellipse">
            <a:avLst/>
          </a:prstGeom>
          <a:solidFill>
            <a:srgbClr val="E94560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7176" y="2121408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57800" y="19659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Integration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5257800" y="22585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Stalwart IMAP inbox, SMTP sending, drafts, sent items, deleted items, contact autocomplete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640080" y="2999232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" y="3081528"/>
            <a:ext cx="219456" cy="2194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43000" y="29260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Sharing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43000" y="321868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upload, image preview, click-to-zoom, per-conversation file library</a:t>
            </a:r>
            <a:endParaRPr lang="en-US" sz="950" dirty="0"/>
          </a:p>
        </p:txBody>
      </p:sp>
      <p:sp>
        <p:nvSpPr>
          <p:cNvPr id="23" name="Shape 16"/>
          <p:cNvSpPr/>
          <p:nvPr/>
        </p:nvSpPr>
        <p:spPr>
          <a:xfrm>
            <a:off x="4754880" y="2999232"/>
            <a:ext cx="384048" cy="384048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7176" y="3081528"/>
            <a:ext cx="219456" cy="21945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257800" y="29260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5257800" y="321868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tabs: Overview, Users, Extensions, Conversations, Compliance Search, Health monitoring</a:t>
            </a:r>
            <a:endParaRPr lang="en-US" sz="950" dirty="0"/>
          </a:p>
        </p:txBody>
      </p:sp>
      <p:sp>
        <p:nvSpPr>
          <p:cNvPr id="27" name="Shape 19"/>
          <p:cNvSpPr/>
          <p:nvPr/>
        </p:nvSpPr>
        <p:spPr>
          <a:xfrm>
            <a:off x="640080" y="3959352"/>
            <a:ext cx="384048" cy="384048"/>
          </a:xfrm>
          <a:prstGeom prst="ellipse">
            <a:avLst/>
          </a:prstGeom>
          <a:solidFill>
            <a:srgbClr val="D946EF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376" y="4041648"/>
            <a:ext cx="219456" cy="219456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143000" y="38862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&amp; Presence</a:t>
            </a:r>
            <a:endParaRPr lang="en-US" sz="1300" dirty="0"/>
          </a:p>
        </p:txBody>
      </p:sp>
      <p:sp>
        <p:nvSpPr>
          <p:cNvPr id="30" name="Text 21"/>
          <p:cNvSpPr/>
          <p:nvPr/>
        </p:nvSpPr>
        <p:spPr>
          <a:xfrm>
            <a:off x="1143000" y="417880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notifications, sound alerts, call ringtone, online/away/busy status, auto-away</a:t>
            </a:r>
            <a:endParaRPr lang="en-US" sz="950" dirty="0"/>
          </a:p>
        </p:txBody>
      </p:sp>
      <p:sp>
        <p:nvSpPr>
          <p:cNvPr id="31" name="Shape 22"/>
          <p:cNvSpPr/>
          <p:nvPr/>
        </p:nvSpPr>
        <p:spPr>
          <a:xfrm>
            <a:off x="4754880" y="3959352"/>
            <a:ext cx="384048" cy="384048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7176" y="4041648"/>
            <a:ext cx="219456" cy="219456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257800" y="38862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Mail Server</a:t>
            </a:r>
            <a:endParaRPr lang="en-US" sz="1300" dirty="0"/>
          </a:p>
        </p:txBody>
      </p:sp>
      <p:sp>
        <p:nvSpPr>
          <p:cNvPr id="34" name="Text 24"/>
          <p:cNvSpPr/>
          <p:nvPr/>
        </p:nvSpPr>
        <p:spPr>
          <a:xfrm>
            <a:off x="5257800" y="417880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Stalwart (Docker), @balasorealloys.in domain, AD integration, smart routing to MS 365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54864" cy="411480"/>
          </a:xfrm>
          <a:prstGeom prst="rect">
            <a:avLst/>
          </a:prstGeom>
          <a:solidFill>
            <a:srgbClr val="5B5FC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20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Module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chat, group messaging, and collaboration features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0" y="320040"/>
            <a:ext cx="1828800" cy="640080"/>
          </a:xfrm>
          <a:prstGeom prst="rect">
            <a:avLst/>
          </a:prstGeom>
          <a:solidFill>
            <a:srgbClr val="5B5FC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0" y="320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0" y="6583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143000"/>
            <a:ext cx="786384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143000"/>
            <a:ext cx="7863840" cy="128016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0" y="11155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81328"/>
            <a:ext cx="164592" cy="16459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77824" y="14447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Direct Messaging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77824" y="16642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private conversations, real-time message delivery via Socket.IO + Redis pub/sub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39696"/>
            <a:ext cx="164592" cy="1645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77824" y="21031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Conversations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877824" y="232257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Public/private groups, add/remove members, group roles (owner, admin, member)</a:t>
            </a:r>
            <a:endParaRPr lang="en-US" sz="9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98064"/>
            <a:ext cx="164592" cy="16459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77824" y="27614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Reactions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877824" y="298094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Emoji reactions on messages, real-time sync via Socket.IO, optimistic UI updates</a:t>
            </a:r>
            <a:endParaRPr lang="en-US" sz="9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456432"/>
            <a:ext cx="164592" cy="16459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77824" y="34198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Edit &amp; Delete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877824" y="36393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sent messages (is_edited flag), soft delete with tombstone, real-time broadcast</a:t>
            </a:r>
            <a:endParaRPr lang="en-US" sz="9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114800"/>
            <a:ext cx="164592" cy="16459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77824" y="40782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/ Thread Support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877824" y="4297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to specific messages with preview, thread context preserved in UI</a:t>
            </a:r>
            <a:endParaRPr lang="en-US" sz="9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1481328"/>
            <a:ext cx="164592" cy="16459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175504" y="14447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@Mentions &amp; Notifications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5175504" y="16642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 users with @ autocomplete, trigger desktop notifications, mention detection</a:t>
            </a:r>
            <a:endParaRPr lang="en-US" sz="9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2139696"/>
            <a:ext cx="164592" cy="16459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175504" y="21031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Indicators</a:t>
            </a:r>
            <a:endParaRPr lang="en-US" sz="1150" dirty="0"/>
          </a:p>
        </p:txBody>
      </p:sp>
      <p:sp>
        <p:nvSpPr>
          <p:cNvPr id="31" name="Text 22"/>
          <p:cNvSpPr/>
          <p:nvPr/>
        </p:nvSpPr>
        <p:spPr>
          <a:xfrm>
            <a:off x="5175504" y="232257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typing dots via Redis pub/sub (5s TTL), multi-user typing support</a:t>
            </a:r>
            <a:endParaRPr lang="en-US" sz="90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2798064"/>
            <a:ext cx="164592" cy="164592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175504" y="27614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Receipts</a:t>
            </a:r>
            <a:endParaRPr lang="en-US" sz="1150" dirty="0"/>
          </a:p>
        </p:txBody>
      </p:sp>
      <p:sp>
        <p:nvSpPr>
          <p:cNvPr id="34" name="Text 24"/>
          <p:cNvSpPr/>
          <p:nvPr/>
        </p:nvSpPr>
        <p:spPr>
          <a:xfrm>
            <a:off x="5175504" y="298094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read tracking, last_read_at per conversation member, delivered/read status</a:t>
            </a:r>
            <a:endParaRPr lang="en-US" sz="90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0" y="3456432"/>
            <a:ext cx="164592" cy="164592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5175504" y="34198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Search</a:t>
            </a:r>
            <a:endParaRPr lang="en-US" sz="1150" dirty="0"/>
          </a:p>
        </p:txBody>
      </p:sp>
      <p:sp>
        <p:nvSpPr>
          <p:cNvPr id="37" name="Text 26"/>
          <p:cNvSpPr/>
          <p:nvPr/>
        </p:nvSpPr>
        <p:spPr>
          <a:xfrm>
            <a:off x="5175504" y="36393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full-text search (tsvector), per-conversation and global admin search</a:t>
            </a:r>
            <a:endParaRPr lang="en-US" sz="900" dirty="0"/>
          </a:p>
        </p:txBody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7760" y="4114800"/>
            <a:ext cx="164592" cy="164592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5175504" y="40782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Messages</a:t>
            </a:r>
            <a:endParaRPr lang="en-US" sz="1150" dirty="0"/>
          </a:p>
        </p:txBody>
      </p:sp>
      <p:sp>
        <p:nvSpPr>
          <p:cNvPr id="40" name="Text 28"/>
          <p:cNvSpPr/>
          <p:nvPr/>
        </p:nvSpPr>
        <p:spPr>
          <a:xfrm>
            <a:off x="5175504" y="4297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and send audio messages in chat, playback with duration display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54864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20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Module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Audio/video calls, screen sharing, calendar scheduling, and file sharing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0" y="320040"/>
            <a:ext cx="182880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0" y="320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0" y="6583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COMPLETE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143000"/>
            <a:ext cx="786384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143000"/>
            <a:ext cx="7077456" cy="12801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11155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81328"/>
            <a:ext cx="164592" cy="16459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77824" y="14447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Audio Calls (WebRTC)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77824" y="16642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browser-to-browser calls, getUserMedia with echo cancellation, noise suppression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39696"/>
            <a:ext cx="164592" cy="1645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77824" y="21031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Video Calls (1080p)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877824" y="232257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 video calls with camera toggle, VideoOff indicator, 30fps, auto-quality adaptation</a:t>
            </a:r>
            <a:endParaRPr lang="en-US" sz="9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98064"/>
            <a:ext cx="164592" cy="16459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77824" y="27614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Sharing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877824" y="298094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getDisplayMedia 1080p capture, banner indicator, replaceTrack for seamless switch</a:t>
            </a:r>
            <a:endParaRPr lang="en-US" sz="9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456432"/>
            <a:ext cx="164592" cy="16459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77824" y="34198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Pointer Control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877824" y="36393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DataChannel-based pointer annotation, colored cursor with name label, click ripple effect</a:t>
            </a:r>
            <a:endParaRPr lang="en-US" sz="9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114800"/>
            <a:ext cx="164592" cy="16459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77824" y="40782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History (Teams-style)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877824" y="4297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Full-width CallsWindow, filter All/Missed/Incoming/Outgoing, hover-to-callback buttons</a:t>
            </a:r>
            <a:endParaRPr lang="en-US" sz="9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1481328"/>
            <a:ext cx="164592" cy="16459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175504" y="14447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&amp; Event Scheduling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5175504" y="16642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Week/day time grid, create events with attendees, RSVP accept/decline/tentative</a:t>
            </a:r>
            <a:endParaRPr lang="en-US" sz="9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2139696"/>
            <a:ext cx="164592" cy="16459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175504" y="21031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Invitations (Real-time)</a:t>
            </a:r>
            <a:endParaRPr lang="en-US" sz="1150" dirty="0"/>
          </a:p>
        </p:txBody>
      </p:sp>
      <p:sp>
        <p:nvSpPr>
          <p:cNvPr id="31" name="Text 22"/>
          <p:cNvSpPr/>
          <p:nvPr/>
        </p:nvSpPr>
        <p:spPr>
          <a:xfrm>
            <a:off x="5175504" y="232257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calendar:invitation events, desktop notification, auto-refresh calendar</a:t>
            </a:r>
            <a:endParaRPr lang="en-US" sz="90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2798064"/>
            <a:ext cx="164592" cy="164592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175504" y="27614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Sharing &amp; Preview</a:t>
            </a:r>
            <a:endParaRPr lang="en-US" sz="1150" dirty="0"/>
          </a:p>
        </p:txBody>
      </p:sp>
      <p:sp>
        <p:nvSpPr>
          <p:cNvPr id="34" name="Text 24"/>
          <p:cNvSpPr/>
          <p:nvPr/>
        </p:nvSpPr>
        <p:spPr>
          <a:xfrm>
            <a:off x="5175504" y="298094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Drag-drop upload, inline image preview, click-to-zoom, per-conversation file library</a:t>
            </a:r>
            <a:endParaRPr lang="en-US" sz="90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0" y="3456432"/>
            <a:ext cx="164592" cy="164592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5175504" y="34198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 Directory</a:t>
            </a:r>
            <a:endParaRPr lang="en-US" sz="1150" dirty="0"/>
          </a:p>
        </p:txBody>
      </p:sp>
      <p:sp>
        <p:nvSpPr>
          <p:cNvPr id="37" name="Text 26"/>
          <p:cNvSpPr/>
          <p:nvPr/>
        </p:nvSpPr>
        <p:spPr>
          <a:xfrm>
            <a:off x="5175504" y="36393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directory by department, search, online status indicators, quick-action buttons</a:t>
            </a:r>
            <a:endParaRPr lang="en-US" sz="900" dirty="0"/>
          </a:p>
        </p:txBody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7760" y="4114800"/>
            <a:ext cx="164592" cy="164592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5175504" y="40782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Audio/Video Calls</a:t>
            </a:r>
            <a:endParaRPr lang="en-US" sz="1150" dirty="0"/>
          </a:p>
        </p:txBody>
      </p:sp>
      <p:sp>
        <p:nvSpPr>
          <p:cNvPr id="40" name="Text 28"/>
          <p:cNvSpPr/>
          <p:nvPr/>
        </p:nvSpPr>
        <p:spPr>
          <a:xfrm>
            <a:off x="5175504" y="4297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group-call events built, GroupCallOverlay ready. Mesh for small groups, SFU pending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54864" cy="4114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20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Module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email server (Stalwart) + Office 365 relay for executives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0" y="320040"/>
            <a:ext cx="1828800" cy="6400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0" y="320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8/8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0" y="6583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143000"/>
            <a:ext cx="786384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143000"/>
            <a:ext cx="7863840" cy="12801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0" y="11155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81328"/>
            <a:ext cx="164592" cy="16459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77824" y="14447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Stalwart Mail Server (Docker)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77824" y="16642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mail server in Docker Compose, @balasorealloys.in domain, auto-start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86000"/>
            <a:ext cx="164592" cy="1645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77824" y="22494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IMAP Inbox (Per-User)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877824" y="24688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reads their own mailbox via IMAP, real-time inbox in BAL Connect</a:t>
            </a:r>
            <a:endParaRPr lang="en-US" sz="9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90672"/>
            <a:ext cx="164592" cy="16459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77824" y="30540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Email Sending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877824" y="32735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emails from user's @balasorealloys.in address, per-user SMTP authentication</a:t>
            </a:r>
            <a:endParaRPr lang="en-US" sz="9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895344"/>
            <a:ext cx="164592" cy="16459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77824" y="38587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SMTP Routing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877824" y="407822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@balasorealloys.in via Stalwart (direct), @balasorealloys.com via Office 365 relay</a:t>
            </a:r>
            <a:endParaRPr lang="en-US" sz="9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481328"/>
            <a:ext cx="164592" cy="16459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175504" y="14447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Management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5175504" y="16642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drafts, edit, resume composing, send draft — all stored in PostgreSQL</a:t>
            </a:r>
            <a:endParaRPr lang="en-US" sz="9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2286000"/>
            <a:ext cx="164592" cy="16459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175504" y="22494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Items &amp; Deleted Items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5175504" y="24688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items from database, soft-delete with restore, folder-based navigation</a:t>
            </a:r>
            <a:endParaRPr lang="en-US" sz="9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3090672"/>
            <a:ext cx="164592" cy="16459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175504" y="30540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Autocomplete</a:t>
            </a:r>
            <a:endParaRPr lang="en-US" sz="1150" dirty="0"/>
          </a:p>
        </p:txBody>
      </p:sp>
      <p:sp>
        <p:nvSpPr>
          <p:cNvPr id="31" name="Text 22"/>
          <p:cNvSpPr/>
          <p:nvPr/>
        </p:nvSpPr>
        <p:spPr>
          <a:xfrm>
            <a:off x="5175504" y="32735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Outlook-style suggestions in To/Cc/Bcc fields, avatar initials, search by name/email</a:t>
            </a:r>
            <a:endParaRPr lang="en-US" sz="90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3895344"/>
            <a:ext cx="164592" cy="164592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175504" y="38587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 Ready</a:t>
            </a:r>
            <a:endParaRPr lang="en-US" sz="1150" dirty="0"/>
          </a:p>
        </p:txBody>
      </p:sp>
      <p:sp>
        <p:nvSpPr>
          <p:cNvPr id="34" name="Text 24"/>
          <p:cNvSpPr/>
          <p:nvPr/>
        </p:nvSpPr>
        <p:spPr>
          <a:xfrm>
            <a:off x="5175504" y="407822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Stalwart LDAP auth for production — users login with AD credentials, zero extra passwords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54864" cy="41148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20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INFRASTRUCTURE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admin panel, security, and deployment infrastructure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0" y="320040"/>
            <a:ext cx="1828800" cy="64008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0" y="320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4/7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0" y="6583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 COMPLETE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143000"/>
            <a:ext cx="786384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143000"/>
            <a:ext cx="4480560" cy="128016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0" name="Text 8"/>
          <p:cNvSpPr/>
          <p:nvPr/>
        </p:nvSpPr>
        <p:spPr>
          <a:xfrm>
            <a:off x="4206240" y="11155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81328"/>
            <a:ext cx="164592" cy="16459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77824" y="14447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77824" y="16642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Login/register, access token (15min) + refresh token (7d), bcrypt-12 password hashing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86000"/>
            <a:ext cx="164592" cy="1645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77824" y="22494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877824" y="24688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Manager / Employee roles, route-level auth middleware, admin-only endpoints</a:t>
            </a:r>
            <a:endParaRPr lang="en-US" sz="9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90672"/>
            <a:ext cx="164592" cy="16459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77824" y="30540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(6 Tabs)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877824" y="32735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analytics, User CRUD, Extensions, Conversations export, Compliance search, Health</a:t>
            </a:r>
            <a:endParaRPr lang="en-US" sz="9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895344"/>
            <a:ext cx="164592" cy="16459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77824" y="38587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System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877824" y="407822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Redis-backed online/away/busy/dnd status, 30s heartbeat, auto-away, real-time broadcast</a:t>
            </a:r>
            <a:endParaRPr lang="en-US" sz="9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481328"/>
            <a:ext cx="164592" cy="16459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175504" y="14447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Hardening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5175504" y="16642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Helmet.js + CORS + file upload validation done. Rate limiting on auth endpoints pending.</a:t>
            </a:r>
            <a:endParaRPr lang="en-US" sz="9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2286000"/>
            <a:ext cx="164592" cy="16459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175504" y="22494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+ SSL (Production)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5175504" y="24688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 config, SSL termination, WebSocket proxy, static file serving</a:t>
            </a:r>
            <a:endParaRPr lang="en-US" sz="9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3090672"/>
            <a:ext cx="164592" cy="16459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175504" y="30540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Docker Deployment</a:t>
            </a:r>
            <a:endParaRPr lang="en-US" sz="1150" dirty="0"/>
          </a:p>
        </p:txBody>
      </p:sp>
      <p:sp>
        <p:nvSpPr>
          <p:cNvPr id="31" name="Text 22"/>
          <p:cNvSpPr/>
          <p:nvPr/>
        </p:nvSpPr>
        <p:spPr>
          <a:xfrm>
            <a:off x="5175504" y="32735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with 5 containers (app, postgres, redis, stalwart, nginx, coturn)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54864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20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Roadmap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AI-powered features for future releases (V2+)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0" y="320040"/>
            <a:ext cx="1828800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0" y="320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0/4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0" y="6583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(V2)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143000"/>
            <a:ext cx="786384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508760"/>
            <a:ext cx="329184" cy="32918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508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14904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Reply Suggestions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172821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analyzes conversation context and suggests quick reply options (like Gmail Smart Reply). Reduces typing for common responses. Uses lightweight NLP model running locally.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350008"/>
            <a:ext cx="329184" cy="32918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350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3317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Transcription &amp; Summary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256946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transcribe audio/video calls in real-time using Whisper (open-source). Generate meeting summary with action items after call ends. Searchable transcript archive.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191256"/>
            <a:ext cx="329184" cy="32918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191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1729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Chatbot (IT/HR Help Desk)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341071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trained on company policies, IT FAQs, HR procedures. Employees ask questions in chat and get instant answers. Reduces IT ticket volume by 40-60%.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4032504"/>
            <a:ext cx="329184" cy="32918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0325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01421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Classification &amp; Priority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" y="42519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Auto-categorize incoming emails (urgent/normal/low), suggest folders, flag important messages. Smart notification filtering based on content priority.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WebRTC  |  Zero Hardware Dependency  |  Docker Deployment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216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828800" cy="62179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81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SPA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+ TypeScript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697480" y="1463040"/>
            <a:ext cx="1828800" cy="621792"/>
          </a:xfrm>
          <a:prstGeom prst="rect">
            <a:avLst/>
          </a:prstGeom>
          <a:solidFill>
            <a:srgbClr val="5B5FC7"/>
          </a:solidFill>
          <a:ln/>
        </p:spPr>
      </p:sp>
      <p:sp>
        <p:nvSpPr>
          <p:cNvPr id="9" name="Text 7"/>
          <p:cNvSpPr/>
          <p:nvPr/>
        </p:nvSpPr>
        <p:spPr>
          <a:xfrm>
            <a:off x="2697480" y="1481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Client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97480" y="1783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Events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1828800" cy="621792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481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WebRTC API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1783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RTCPeerConnection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812280" y="1463040"/>
            <a:ext cx="1828800" cy="6217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6812280" y="1481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Client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12280" y="1783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+ JWT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0080" y="22677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40080" y="2514600"/>
            <a:ext cx="1828800" cy="62179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5328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2834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+ TypeScript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697480" y="2514600"/>
            <a:ext cx="1828800" cy="621792"/>
          </a:xfrm>
          <a:prstGeom prst="rect">
            <a:avLst/>
          </a:prstGeom>
          <a:solidFill>
            <a:srgbClr val="5B5FC7"/>
          </a:solidFill>
          <a:ln/>
        </p:spPr>
      </p:sp>
      <p:sp>
        <p:nvSpPr>
          <p:cNvPr id="22" name="Text 20"/>
          <p:cNvSpPr/>
          <p:nvPr/>
        </p:nvSpPr>
        <p:spPr>
          <a:xfrm>
            <a:off x="2697480" y="25328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Server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97480" y="2834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Signaling + Chat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54880" y="2514600"/>
            <a:ext cx="1828800" cy="621792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25328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Stalwart Mail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2834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IMAP + SMTP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812280" y="2514600"/>
            <a:ext cx="1828800" cy="6217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6812280" y="25328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12280" y="2834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+ Reverse Proxy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0080" y="33192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40080" y="3566160"/>
            <a:ext cx="1828800" cy="62179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35844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3886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Tables, 6 Migrations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697480" y="3566160"/>
            <a:ext cx="1828800" cy="621792"/>
          </a:xfrm>
          <a:prstGeom prst="rect">
            <a:avLst/>
          </a:prstGeom>
          <a:solidFill>
            <a:srgbClr val="5B5FC7"/>
          </a:solidFill>
          <a:ln/>
        </p:spPr>
      </p:sp>
      <p:sp>
        <p:nvSpPr>
          <p:cNvPr id="35" name="Text 33"/>
          <p:cNvSpPr/>
          <p:nvPr/>
        </p:nvSpPr>
        <p:spPr>
          <a:xfrm>
            <a:off x="2697480" y="35844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697480" y="3886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Presence, Pub/Sub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54880" y="3566160"/>
            <a:ext cx="1828800" cy="621792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8" name="Text 36"/>
          <p:cNvSpPr/>
          <p:nvPr/>
        </p:nvSpPr>
        <p:spPr>
          <a:xfrm>
            <a:off x="4754880" y="35844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coturn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54880" y="3886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STUN/TURN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812280" y="3566160"/>
            <a:ext cx="1828800" cy="6217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1" name="Text 39"/>
          <p:cNvSpPr/>
          <p:nvPr/>
        </p:nvSpPr>
        <p:spPr>
          <a:xfrm>
            <a:off x="6812280" y="35844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812280" y="3886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Disk / NAS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657600" y="19842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+ WSS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657600" y="30358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Docker Network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40080" y="4526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components are free &amp; open source  |  Total License Cost: $0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Comparison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7863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192024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365 Basics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(275 License)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365 Standard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(90 License)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 Connect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License (300 users)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5,18,096/year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6,21,000/year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$0/year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Privacy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cloud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cloud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on-premise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 Dependency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network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customizable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5-Year Total 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25,90,480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31,05,000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1828800" y="3840480"/>
            <a:ext cx="5486400" cy="77724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5" name="Text 2"/>
          <p:cNvSpPr/>
          <p:nvPr/>
        </p:nvSpPr>
        <p:spPr>
          <a:xfrm>
            <a:off x="1828800" y="38404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Savings: Rs. 56,95,480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 Connect pays for itself from day one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B5FC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237744" cy="237744"/>
          </a:xfrm>
          <a:prstGeom prst="ellipse">
            <a:avLst/>
          </a:prstGeom>
          <a:solidFill>
            <a:srgbClr val="5B5FC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" y="11612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group audio/video calls (WebRTC mesh for small groups)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237744" cy="237744"/>
          </a:xfrm>
          <a:prstGeom prst="ellipse">
            <a:avLst/>
          </a:prstGeom>
          <a:solidFill>
            <a:srgbClr val="5B5FC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002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15727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coturn TURN server for cross-subnet NAT traversal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011680"/>
            <a:ext cx="237744" cy="237744"/>
          </a:xfrm>
          <a:prstGeom prst="ellipse">
            <a:avLst/>
          </a:prstGeom>
          <a:solidFill>
            <a:srgbClr val="5B5FC7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116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19842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Nginx with SSL certificates for production HTTPS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423160"/>
            <a:ext cx="237744" cy="237744"/>
          </a:xfrm>
          <a:prstGeom prst="ellipse">
            <a:avLst/>
          </a:prstGeom>
          <a:solidFill>
            <a:srgbClr val="5B5FC7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4231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7280" y="23957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production deployment on provided server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2834640"/>
            <a:ext cx="237744" cy="237744"/>
          </a:xfrm>
          <a:prstGeom prst="ellipse">
            <a:avLst/>
          </a:prstGeom>
          <a:solidFill>
            <a:srgbClr val="5B5FC7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8346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97280" y="28072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testing with 300+ simulated concurrent users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3246120"/>
            <a:ext cx="237744" cy="237744"/>
          </a:xfrm>
          <a:prstGeom prst="ellipse">
            <a:avLst/>
          </a:prstGeom>
          <a:solidFill>
            <a:srgbClr val="5B5FC7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2461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97280" y="32186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Department-wise user training and phased rollout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3749040"/>
            <a:ext cx="91440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9319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40080" y="4434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 Connect  |  Internal Communication Platform  |  Balasore Alloys Ltd.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BAL Connect - V1 Progress Report</dc:title>
  <dc:subject>PptxGenJS Presentation</dc:subject>
  <dc:creator>IT Infrastructure &amp; Digital Transformation Team</dc:creator>
  <cp:lastModifiedBy>IT Infrastructure &amp; Digital Transformation Team</cp:lastModifiedBy>
  <cp:revision>1</cp:revision>
  <dcterms:created xsi:type="dcterms:W3CDTF">2026-04-02T07:10:56Z</dcterms:created>
  <dcterms:modified xsi:type="dcterms:W3CDTF">2026-04-02T07:10:56Z</dcterms:modified>
</cp:coreProperties>
</file>