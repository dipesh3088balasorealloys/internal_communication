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5"/>
    <p:sldId id="261" r:id="rId6"/>
    <p:sldId id="263" r:id="rId7"/>
    <p:sldId id="266" r:id="rId8"/>
    <p:sldId id="268" r:id="rId9"/>
    <p:sldId id="269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7677"/>
    <a:srgbClr val="A2FCC4"/>
    <a:srgbClr val="F6B4BF"/>
    <a:srgbClr val="EFB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018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763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9.png"/><Relationship Id="rId4" Type="http://schemas.openxmlformats.org/officeDocument/2006/relationships/image" Target="../media/image12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 Connect</a:t>
            </a:r>
            <a:endParaRPr lang="en-US" sz="4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Communication Platform</a:t>
            </a:r>
            <a:endParaRPr lang="en-US" sz="2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1097280" cy="36576"/>
          </a:xfrm>
          <a:prstGeom prst="rect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Progress Report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783080" cy="320040"/>
          </a:xfrm>
          <a:prstGeom prst="rect">
            <a:avLst/>
          </a:prstGeom>
          <a:solidFill>
            <a:srgbClr val="00B894">
              <a:alpha val="15000"/>
            </a:srgbClr>
          </a:solidFill>
          <a:ln w="19050">
            <a:solidFill>
              <a:srgbClr val="00B89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300+ Users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97480" y="2697480"/>
            <a:ext cx="1783080" cy="320040"/>
          </a:xfrm>
          <a:prstGeom prst="rect">
            <a:avLst/>
          </a:prstGeom>
          <a:solidFill>
            <a:srgbClr val="5B5FC7">
              <a:alpha val="15000"/>
            </a:srgbClr>
          </a:solidFill>
          <a:ln w="19050">
            <a:solidFill>
              <a:srgbClr val="5B5FC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697480" y="26974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B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License Cost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2697480"/>
            <a:ext cx="1783080" cy="320040"/>
          </a:xfrm>
          <a:prstGeom prst="rect">
            <a:avLst/>
          </a:prstGeom>
          <a:solidFill>
            <a:srgbClr val="E94560">
              <a:alpha val="15000"/>
            </a:srgbClr>
          </a:solidFill>
          <a:ln w="19050">
            <a:solidFill>
              <a:srgbClr val="E9456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663440" y="26974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LEAKAGE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6629400" y="2697480"/>
            <a:ext cx="1783080" cy="320040"/>
          </a:xfrm>
          <a:prstGeom prst="rect">
            <a:avLst/>
          </a:prstGeom>
          <a:solidFill>
            <a:srgbClr val="0891B2">
              <a:alpha val="15000"/>
            </a:srgbClr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Email Server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0" y="3337560"/>
            <a:ext cx="914400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3152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TEAM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1828800" cy="777240"/>
          </a:xfrm>
          <a:prstGeom prst="rect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3152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Dipesh Mondal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Architecture &amp; Development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88920" y="3840480"/>
            <a:ext cx="1828800" cy="7772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278892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Swastik Roy Choudhury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1828800" cy="777240"/>
          </a:xfrm>
          <a:prstGeom prst="rect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4632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Senapati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&amp; Deployment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03720" y="3840480"/>
            <a:ext cx="1828800" cy="77724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6903720" y="38587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Rojalin Sahu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0372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Monitoring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31520" y="47548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Balasore Alloys Ltd.  |  April 2026  |  Confidential</a:t>
            </a:r>
            <a:endParaRPr lang="en-US" sz="10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B49EFC8-2137-E050-C1FA-8B9EDC990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290" y="327191"/>
            <a:ext cx="1754230" cy="6329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960120"/>
            <a:ext cx="2560320" cy="914400"/>
          </a:xfrm>
          <a:prstGeom prst="rect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Complete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960120"/>
            <a:ext cx="2560320" cy="914400"/>
          </a:xfrm>
          <a:prstGeom prst="rect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3429000" y="960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33/43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429000" y="1508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Done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560320" cy="9144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217920" y="9601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217920" y="1508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Days</a:t>
            </a:r>
            <a:endParaRPr lang="en-US" sz="11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1972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960120" y="212140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Teams replacement for 300+ employees — fully self-hosted, internal network only</a:t>
            </a:r>
            <a:endParaRPr lang="en-US" sz="11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0376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60120" y="2505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software (Mail) licensing cost — all open-source technologies</a:t>
            </a:r>
            <a:endParaRPr lang="en-US" sz="11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87816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288950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React + Node.js + PostgreSQL + Redis + Pure WebRTC + Docker</a:t>
            </a:r>
            <a:endParaRPr lang="en-US" sz="11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71864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60120" y="327355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Email Server (Stalwart) integrated — no MS 365 dependency for regular employees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960120" y="365760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960120" y="404164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078992"/>
            <a:ext cx="384048" cy="384048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1161288"/>
            <a:ext cx="219456" cy="219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005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43000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DMs, group channels, reactions, replies, @mentions, typing, read receipts, search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4754880" y="1078992"/>
            <a:ext cx="384048" cy="384048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116128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57800" y="10058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&amp; Video Calls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257800" y="116890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voice/video via Pure WebRTC, call history, incoming call modal, mute/camera toggle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40080" y="2039112"/>
            <a:ext cx="384048" cy="384048"/>
          </a:xfrm>
          <a:prstGeom prst="ellipse">
            <a:avLst/>
          </a:prstGeom>
          <a:solidFill>
            <a:srgbClr val="EFBAF8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2121408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19659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&amp; Meetings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143000" y="2118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Week/day view, create events, invite attendees, RSVP accept/decline, real-time notifications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754880" y="2039112"/>
            <a:ext cx="384048" cy="384048"/>
          </a:xfrm>
          <a:prstGeom prst="ellipse">
            <a:avLst/>
          </a:prstGeom>
          <a:solidFill>
            <a:srgbClr val="F6B4B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176" y="2121408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57800" y="196596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Integration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257800" y="212902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Stalwart IMAP inbox, SMTP sending, drafts, sent items, deleted items, contact autocomplete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40080" y="2999232"/>
            <a:ext cx="384048" cy="384048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376" y="3081528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43000" y="2926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Sharing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43000" y="308457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upload, image preview, click-to-zoom, per-conversation file library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754880" y="2999232"/>
            <a:ext cx="384048" cy="384048"/>
          </a:xfrm>
          <a:prstGeom prst="ellipse">
            <a:avLst/>
          </a:prstGeom>
          <a:solidFill>
            <a:srgbClr val="A2FCC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7176" y="3081528"/>
            <a:ext cx="219456" cy="21945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257800" y="2926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</a:t>
            </a:r>
            <a:endParaRPr lang="en-US" sz="1300" dirty="0"/>
          </a:p>
        </p:txBody>
      </p:sp>
      <p:sp>
        <p:nvSpPr>
          <p:cNvPr id="26" name="Text 18"/>
          <p:cNvSpPr/>
          <p:nvPr/>
        </p:nvSpPr>
        <p:spPr>
          <a:xfrm>
            <a:off x="5257800" y="30891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tabs: Overview, Users, Extensions, Conversations, Compliance Search, Health monitoring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640080" y="3959352"/>
            <a:ext cx="384048" cy="384048"/>
          </a:xfrm>
          <a:prstGeom prst="ellipse">
            <a:avLst/>
          </a:prstGeom>
          <a:solidFill>
            <a:srgbClr val="EFBAF8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" y="4041648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143000" y="3886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&amp; Presence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1143000" y="404469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notifications, sound alerts, call ringtone, online/away/busy status, auto-away</a:t>
            </a:r>
            <a:endParaRPr lang="en-US" sz="950" dirty="0"/>
          </a:p>
        </p:txBody>
      </p:sp>
      <p:sp>
        <p:nvSpPr>
          <p:cNvPr id="31" name="Shape 22"/>
          <p:cNvSpPr/>
          <p:nvPr/>
        </p:nvSpPr>
        <p:spPr>
          <a:xfrm>
            <a:off x="4754880" y="3959352"/>
            <a:ext cx="384048" cy="384048"/>
          </a:xfrm>
          <a:prstGeom prst="ellipse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37176" y="4041648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257800" y="3886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Mail Server</a:t>
            </a:r>
            <a:endParaRPr lang="en-US" sz="1300" dirty="0"/>
          </a:p>
        </p:txBody>
      </p:sp>
      <p:sp>
        <p:nvSpPr>
          <p:cNvPr id="34" name="Text 24"/>
          <p:cNvSpPr/>
          <p:nvPr/>
        </p:nvSpPr>
        <p:spPr>
          <a:xfrm>
            <a:off x="5257800" y="405688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Stalwart (Docker), @balasorealloys.in domain, AD integration, smart routing to MS 365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8346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Data Protection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6736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ensuring zero data leakage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9464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77240" y="1111040"/>
            <a:ext cx="384048" cy="384048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19333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19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HTTPS/TLS Encryption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80160" y="1275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communication encrypted in transit. SSL certificates on all endpoints. WebSocket connections secured via WSS.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0080" y="18608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777240" y="2025440"/>
            <a:ext cx="384048" cy="384048"/>
          </a:xfrm>
          <a:prstGeom prst="ellipse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2107736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19340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On-Premise Data Storage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2190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stored on company's own server. Zero cloud dependency. No data leaves the internal network.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40080" y="27752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777240" y="2939840"/>
            <a:ext cx="384048" cy="384048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3022136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80160" y="28484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280160" y="3104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tokens expire in 15 minutes. Refresh tokens in 7 days. Passwords hashed with bcrypt (12 rounds).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40080" y="3696731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777240" y="3854240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3936536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80160" y="37628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280160" y="4018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Manager, Employee roles. Route-level authorization. Admin-only endpoints protected.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4754880" y="9464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19"/>
          <p:cNvSpPr/>
          <p:nvPr/>
        </p:nvSpPr>
        <p:spPr>
          <a:xfrm>
            <a:off x="4892040" y="1111040"/>
            <a:ext cx="384048" cy="384048"/>
          </a:xfrm>
          <a:prstGeom prst="ellipse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4336" y="1193336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394960" y="1019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Network Only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5394960" y="12756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accessible only on company's internal network (192.168.x.x). No public internet exposure.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4754880" y="18608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3"/>
          <p:cNvSpPr/>
          <p:nvPr/>
        </p:nvSpPr>
        <p:spPr>
          <a:xfrm>
            <a:off x="4892040" y="2025440"/>
            <a:ext cx="384048" cy="384048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74336" y="2107736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94960" y="19340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 Isolation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5394960" y="2190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runs in isolated Docker containers. Database and Redis not exposed to external network.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754880" y="2775248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Shape 27"/>
          <p:cNvSpPr/>
          <p:nvPr/>
        </p:nvSpPr>
        <p:spPr>
          <a:xfrm>
            <a:off x="4892040" y="2939840"/>
            <a:ext cx="384048" cy="38404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4336" y="3022136"/>
            <a:ext cx="219456" cy="21945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394960" y="28484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Security</a:t>
            </a:r>
            <a:endParaRPr lang="en-US" sz="1200" dirty="0"/>
          </a:p>
        </p:txBody>
      </p:sp>
      <p:sp>
        <p:nvSpPr>
          <p:cNvPr id="38" name="Text 29"/>
          <p:cNvSpPr/>
          <p:nvPr/>
        </p:nvSpPr>
        <p:spPr>
          <a:xfrm>
            <a:off x="5394960" y="31044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executable extensions (.exe, .bat, .cmd). File size limits enforced. UUID-based file naming.</a:t>
            </a:r>
            <a:endParaRPr lang="en-US" sz="900" dirty="0"/>
          </a:p>
        </p:txBody>
      </p:sp>
      <p:sp>
        <p:nvSpPr>
          <p:cNvPr id="39" name="Shape 30"/>
          <p:cNvSpPr/>
          <p:nvPr/>
        </p:nvSpPr>
        <p:spPr>
          <a:xfrm>
            <a:off x="4754880" y="3696727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Shape 31"/>
          <p:cNvSpPr/>
          <p:nvPr/>
        </p:nvSpPr>
        <p:spPr>
          <a:xfrm>
            <a:off x="4892040" y="3854240"/>
            <a:ext cx="384048" cy="384048"/>
          </a:xfrm>
          <a:prstGeom prst="ellipse">
            <a:avLst/>
          </a:prstGeom>
          <a:solidFill>
            <a:srgbClr val="D946E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74336" y="3936536"/>
            <a:ext cx="219456" cy="21945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394960" y="37628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Compliance</a:t>
            </a:r>
            <a:endParaRPr lang="en-US" sz="1200" dirty="0"/>
          </a:p>
        </p:txBody>
      </p:sp>
      <p:sp>
        <p:nvSpPr>
          <p:cNvPr id="43" name="Text 33"/>
          <p:cNvSpPr/>
          <p:nvPr/>
        </p:nvSpPr>
        <p:spPr>
          <a:xfrm>
            <a:off x="5394960" y="4018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compliance search across all messages. Chat export (CSV/TXT). Message edit/delete tracking.</a:t>
            </a:r>
            <a:endParaRPr lang="en-US" sz="900" dirty="0"/>
          </a:p>
        </p:txBody>
      </p:sp>
      <p:sp>
        <p:nvSpPr>
          <p:cNvPr id="44" name="Shape 34"/>
          <p:cNvSpPr/>
          <p:nvPr/>
        </p:nvSpPr>
        <p:spPr>
          <a:xfrm>
            <a:off x="716280" y="4545344"/>
            <a:ext cx="7863840" cy="320040"/>
          </a:xfrm>
          <a:prstGeom prst="rect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35"/>
          <p:cNvSpPr/>
          <p:nvPr/>
        </p:nvSpPr>
        <p:spPr>
          <a:xfrm>
            <a:off x="716280" y="4545345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LEAKAGE — All data stays within Balasore Alloys internal network  |  No cloud, no external servers, no third-party access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0040"/>
            <a:ext cx="54864" cy="411480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320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Module (Internal Email Server)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email server + Office 365 relay for executives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033260" y="262850"/>
            <a:ext cx="1463040" cy="762802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033260" y="301993"/>
            <a:ext cx="1463040" cy="489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IN" sz="1400" dirty="0">
                <a:solidFill>
                  <a:schemeClr val="bg1"/>
                </a:solidFill>
                <a:latin typeface="Arial Black" panose="020B0A04020102020204" pitchFamily="34" charset="0"/>
              </a:rPr>
              <a:t>Major </a:t>
            </a:r>
          </a:p>
          <a:p>
            <a:pPr algn="ctr"/>
            <a:r>
              <a:rPr lang="en-IN" sz="1400" dirty="0">
                <a:solidFill>
                  <a:schemeClr val="bg1"/>
                </a:solidFill>
                <a:latin typeface="Arial Black" panose="020B0A04020102020204" pitchFamily="34" charset="0"/>
              </a:rPr>
              <a:t>Cost Saving </a:t>
            </a:r>
          </a:p>
          <a:p>
            <a:pPr algn="ctr"/>
            <a:r>
              <a:rPr lang="en-IN" sz="1400" dirty="0">
                <a:solidFill>
                  <a:schemeClr val="bg1"/>
                </a:solidFill>
                <a:latin typeface="Arial Black" panose="020B0A04020102020204" pitchFamily="34" charset="0"/>
              </a:rPr>
              <a:t>Area</a:t>
            </a:r>
            <a:endParaRPr lang="en-US" sz="14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7863840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40080" y="1143000"/>
            <a:ext cx="7863840" cy="128016"/>
          </a:xfrm>
          <a:prstGeom prst="rect">
            <a:avLst/>
          </a:prstGeom>
          <a:solidFill>
            <a:srgbClr val="E94560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164592" cy="1645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" y="14447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Stalwart Mail Server (Docker)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77824" y="16642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mail server in Docker Compose, @balasorealloys.in domain, auto-start</a:t>
            </a:r>
            <a:endParaRPr lang="en-US" sz="9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286000"/>
            <a:ext cx="164592" cy="1645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77824" y="22494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IMAP Inbox (Per-User)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reads their own mailbox via IMAP, real-time inbox in BAL Connect</a:t>
            </a:r>
            <a:endParaRPr lang="en-US" sz="9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90672"/>
            <a:ext cx="164592" cy="16459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77824" y="30540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SMTP Email Sending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877824" y="32735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emails from user's @balasorealloys.in address, per-user SMTP authentication</a:t>
            </a:r>
            <a:endParaRPr lang="en-US" sz="90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95344"/>
            <a:ext cx="164592" cy="16459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77824" y="38587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SMTP Routing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877824" y="407822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@balasorealloys.in via Stalwart (direct), @balasorealloys.com via Office 365 relay</a:t>
            </a:r>
            <a:endParaRPr lang="en-US" sz="9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481328"/>
            <a:ext cx="164592" cy="16459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75504" y="144475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Management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175504" y="16642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drafts, edit, resume composing, send draft — all stored in PostgreSQL</a:t>
            </a:r>
            <a:endParaRPr lang="en-US" sz="9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2286000"/>
            <a:ext cx="164592" cy="16459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175504" y="224942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Items &amp; Deleted Items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5175504" y="24688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items from database, soft-delete with restore, folder-based navigation</a:t>
            </a:r>
            <a:endParaRPr lang="en-US" sz="90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90672"/>
            <a:ext cx="164592" cy="16459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175504" y="30540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Autocomplete</a:t>
            </a:r>
            <a:endParaRPr lang="en-US" sz="1150" dirty="0"/>
          </a:p>
        </p:txBody>
      </p:sp>
      <p:sp>
        <p:nvSpPr>
          <p:cNvPr id="30" name="Text 21"/>
          <p:cNvSpPr/>
          <p:nvPr/>
        </p:nvSpPr>
        <p:spPr>
          <a:xfrm>
            <a:off x="5175504" y="32735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Outlook-style suggestions in To/Cc/Bcc fields, avatar initials, search by name/email</a:t>
            </a:r>
            <a:endParaRPr lang="en-US" sz="9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895344"/>
            <a:ext cx="164592" cy="164592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5175504" y="38587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Mailing System</a:t>
            </a:r>
            <a:endParaRPr lang="en-US" sz="1150" dirty="0"/>
          </a:p>
        </p:txBody>
      </p:sp>
      <p:sp>
        <p:nvSpPr>
          <p:cNvPr id="33" name="Text 23"/>
          <p:cNvSpPr/>
          <p:nvPr/>
        </p:nvSpPr>
        <p:spPr>
          <a:xfrm>
            <a:off x="5175504" y="4078224"/>
            <a:ext cx="3610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Department-based user groups with controlled external mailing permissions via a shared email ID.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0040"/>
            <a:ext cx="54864" cy="4114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822960" y="3200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Roadmap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AI-powered features for future releases (V2+)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0" y="320040"/>
            <a:ext cx="182880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858000" y="320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6583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(V2)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143000"/>
            <a:ext cx="7863840" cy="128016"/>
          </a:xfrm>
          <a:prstGeom prst="rect">
            <a:avLst/>
          </a:prstGeom>
          <a:solidFill>
            <a:srgbClr val="E5E7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40080" y="1508760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490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Reply Suggestions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172821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conversation context and suggests quick reply options (like Gmail Smart Reply). Reduces typing for common responses.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2350008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0080" y="2350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3317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Transcription &amp; Summary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256946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transcribe audio/video calls in real-time using Whisper (open-source). Generate meeting summary with action items.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3191256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0080" y="3191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31729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Chatbot (IT/HR Help Desk)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34107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trained on company policies, IT FAQs, HR procedures. Instant answers. Reduces IT ticket volume by 40-60%.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032504"/>
            <a:ext cx="329184" cy="329184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640080" y="4032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40142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Classification &amp; Priority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" y="4251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Auto-categorize incoming emails (urgent/normal/low), suggest folders, flag important messages. Smart notification filtering.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Features &amp; Roadmap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for V1 completion and V2 planned features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3931920" cy="320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— Remaining Tasks (5 items)</a:t>
            </a:r>
            <a:endParaRPr lang="en-US" sz="1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09928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916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Audio/Video Calls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14400" y="18745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 mesh for small groups (&lt; 10 participants). SFU for larger groups in V2.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4023360" y="17099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48840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14400" y="21305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Hardening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914400" y="23134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on auth endpoints, API abuse prevention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023360" y="2148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87752"/>
            <a:ext cx="182880" cy="1828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56946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Reverse Proxy + SSL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914400" y="275234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SSL with proper certificates (replace self-signed)</a:t>
            </a:r>
            <a:endParaRPr lang="en-US" sz="8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26664"/>
            <a:ext cx="182880" cy="1828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30083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coturn TURN Server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14400" y="3191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cross-subnet NAT traversal (calls between different network segments)</a:t>
            </a:r>
            <a:endParaRPr lang="en-US" sz="850" dirty="0"/>
          </a:p>
        </p:txBody>
      </p:sp>
      <p:sp>
        <p:nvSpPr>
          <p:cNvPr id="25" name="Text 19"/>
          <p:cNvSpPr/>
          <p:nvPr/>
        </p:nvSpPr>
        <p:spPr>
          <a:xfrm>
            <a:off x="4023360" y="30266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14400" y="3447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(300+ users)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914400" y="36301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concurrent users, stress test WebSocket connections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023360" y="34655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31" name="Shape 24"/>
          <p:cNvSpPr/>
          <p:nvPr/>
        </p:nvSpPr>
        <p:spPr>
          <a:xfrm>
            <a:off x="4937760" y="1188720"/>
            <a:ext cx="393192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5"/>
          <p:cNvSpPr/>
          <p:nvPr/>
        </p:nvSpPr>
        <p:spPr>
          <a:xfrm>
            <a:off x="493776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— Planned Enhancements</a:t>
            </a:r>
            <a:endParaRPr lang="en-US" sz="12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709928"/>
            <a:ext cx="164592" cy="16459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193792" y="169164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Smart Reply Suggestions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193792" y="187452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reply suggestions using local NLP model</a:t>
            </a:r>
            <a:endParaRPr lang="en-US" sz="8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93976"/>
            <a:ext cx="164592" cy="16459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5193792" y="207568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Transcription</a:t>
            </a:r>
            <a:endParaRPr lang="en-US" sz="1050" dirty="0"/>
          </a:p>
        </p:txBody>
      </p:sp>
      <p:sp>
        <p:nvSpPr>
          <p:cNvPr id="38" name="Text 29"/>
          <p:cNvSpPr/>
          <p:nvPr/>
        </p:nvSpPr>
        <p:spPr>
          <a:xfrm>
            <a:off x="5193792" y="225856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transcription using Whisper (open-source)</a:t>
            </a:r>
            <a:endParaRPr lang="en-US" sz="8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478024"/>
            <a:ext cx="164592" cy="164592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5193792" y="245973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AI Chatbot</a:t>
            </a:r>
            <a:endParaRPr lang="en-US" sz="1050" dirty="0"/>
          </a:p>
        </p:txBody>
      </p:sp>
      <p:sp>
        <p:nvSpPr>
          <p:cNvPr id="41" name="Text 31"/>
          <p:cNvSpPr/>
          <p:nvPr/>
        </p:nvSpPr>
        <p:spPr>
          <a:xfrm>
            <a:off x="5193792" y="264261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IT/HR help desk chatbot trained on company policies</a:t>
            </a:r>
            <a:endParaRPr lang="en-US" sz="80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862072"/>
            <a:ext cx="164592" cy="164592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5193792" y="284378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Classification</a:t>
            </a:r>
            <a:endParaRPr lang="en-US" sz="1050" dirty="0"/>
          </a:p>
        </p:txBody>
      </p:sp>
      <p:sp>
        <p:nvSpPr>
          <p:cNvPr id="44" name="Text 33"/>
          <p:cNvSpPr/>
          <p:nvPr/>
        </p:nvSpPr>
        <p:spPr>
          <a:xfrm>
            <a:off x="5193792" y="302666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Auto-categorize emails by priority and type</a:t>
            </a:r>
            <a:endParaRPr lang="en-US" sz="800" dirty="0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246120"/>
            <a:ext cx="164592" cy="164592"/>
          </a:xfrm>
          <a:prstGeom prst="rect">
            <a:avLst/>
          </a:prstGeom>
        </p:spPr>
      </p:pic>
      <p:sp>
        <p:nvSpPr>
          <p:cNvPr id="46" name="Text 34"/>
          <p:cNvSpPr/>
          <p:nvPr/>
        </p:nvSpPr>
        <p:spPr>
          <a:xfrm>
            <a:off x="5193792" y="32278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Directory SSO</a:t>
            </a:r>
            <a:endParaRPr lang="en-US" sz="1050" dirty="0"/>
          </a:p>
        </p:txBody>
      </p:sp>
      <p:sp>
        <p:nvSpPr>
          <p:cNvPr id="47" name="Text 35"/>
          <p:cNvSpPr/>
          <p:nvPr/>
        </p:nvSpPr>
        <p:spPr>
          <a:xfrm>
            <a:off x="5193792" y="341071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sign-on with company AD for all 300+ employees</a:t>
            </a:r>
            <a:endParaRPr lang="en-US" sz="8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630168"/>
            <a:ext cx="164592" cy="164592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5193792" y="36118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SFU for Large Groups</a:t>
            </a:r>
            <a:endParaRPr lang="en-US" sz="1050" dirty="0"/>
          </a:p>
        </p:txBody>
      </p:sp>
      <p:sp>
        <p:nvSpPr>
          <p:cNvPr id="50" name="Text 37"/>
          <p:cNvSpPr/>
          <p:nvPr/>
        </p:nvSpPr>
        <p:spPr>
          <a:xfrm>
            <a:off x="5193792" y="379476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Janus/mediasoup for 10+ participant video calls</a:t>
            </a:r>
            <a:endParaRPr lang="en-US" sz="800" dirty="0"/>
          </a:p>
        </p:txBody>
      </p:sp>
      <p:sp>
        <p:nvSpPr>
          <p:cNvPr id="52" name="Text 38"/>
          <p:cNvSpPr/>
          <p:nvPr/>
        </p:nvSpPr>
        <p:spPr>
          <a:xfrm>
            <a:off x="5193792" y="39959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53" name="Text 39"/>
          <p:cNvSpPr/>
          <p:nvPr/>
        </p:nvSpPr>
        <p:spPr>
          <a:xfrm>
            <a:off x="5193792" y="417880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54" name="Shape 40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41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5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Estimated Completion: 1-2 weeks  |  V2 Development: Q3-Q4 2026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Comparison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7863840" cy="16459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365 Basics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(275 License)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365 Standard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(90 License)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 Connect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License (300 users)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 5,18,096/year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 6,21,000/year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$0/year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Privacy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cloud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on-premise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network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customizable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5-Year Total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 25,90,480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Rs. 31,05,000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B8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828800" y="3206496"/>
            <a:ext cx="5486400" cy="777240"/>
          </a:xfrm>
          <a:prstGeom prst="rect">
            <a:avLst/>
          </a:prstGeom>
          <a:solidFill>
            <a:srgbClr val="00B89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1828800" y="3206496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Savings: Rs. 56,95,480</a:t>
            </a:r>
            <a:endParaRPr lang="en-US" sz="2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 Connect pays for itself from day one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97280" y="11612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group audio/video calls (WebRTC mesh for small groups)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60020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31520" y="1600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15727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coturn TURN server for cross-subnet NAT traversal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01168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31520" y="2011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9842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Nginx with SSL certificates for production HTTPS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42316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31520" y="24231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97280" y="23957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production deployment on provided server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731520" y="2834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97280" y="280720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with 300+ simulated concurrent users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3246120"/>
            <a:ext cx="237744" cy="237744"/>
          </a:xfrm>
          <a:prstGeom prst="ellipse">
            <a:avLst/>
          </a:prstGeom>
          <a:solidFill>
            <a:srgbClr val="5B5FC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731520" y="3246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32186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4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Department-wise user training and phased rollout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3749040"/>
            <a:ext cx="9144000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64008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 Connect  |  Internal Communication Platform  |  Balasore Alloys Ltd.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</TotalTime>
  <Words>1122</Words>
  <Application>Microsoft Office PowerPoint</Application>
  <PresentationFormat>On-screen Show (16:9)</PresentationFormat>
  <Paragraphs>180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 Connect - V1 Progress Report</dc:title>
  <dc:subject>PptxGenJS Presentation</dc:subject>
  <dc:creator>IT Infrastructure &amp; Digital Transformation Team</dc:creator>
  <cp:lastModifiedBy>IT TRAINEE</cp:lastModifiedBy>
  <cp:revision>22</cp:revision>
  <dcterms:created xsi:type="dcterms:W3CDTF">2026-04-07T20:45:15Z</dcterms:created>
  <dcterms:modified xsi:type="dcterms:W3CDTF">2026-04-08T17:39:01Z</dcterms:modified>
</cp:coreProperties>
</file>